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72" r:id="rId4"/>
    <p:sldId id="259" r:id="rId5"/>
    <p:sldId id="273" r:id="rId6"/>
    <p:sldId id="274" r:id="rId7"/>
    <p:sldId id="275" r:id="rId8"/>
    <p:sldId id="262" r:id="rId9"/>
  </p:sldIdLst>
  <p:sldSz cx="18288000" cy="10287000"/>
  <p:notesSz cx="6858000" cy="9144000"/>
  <p:embeddedFontLst>
    <p:embeddedFont>
      <p:font typeface="Pretendard Bold" panose="020B0600000101010101" charset="-127"/>
      <p:bold r:id="rId10"/>
    </p:embeddedFont>
    <p:embeddedFont>
      <p:font typeface="Pretendard Medium" panose="02000603000000020004" pitchFamily="50" charset="-127"/>
      <p:regular r:id="rId11"/>
    </p:embeddedFont>
    <p:embeddedFont>
      <p:font typeface="Pretendard Regular" panose="020B0600000101010101" charset="-127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r Dafoe Regular" panose="020B0600000101010101" charset="0"/>
      <p:regular r:id="rId17"/>
    </p:embeddedFont>
    <p:embeddedFont>
      <p:font typeface="Pretendard Light" panose="02000403000000020004" pitchFamily="50" charset="-127"/>
      <p:regular r:id="rId18"/>
    </p:embeddedFont>
    <p:embeddedFont>
      <p:font typeface="Pretendard SemiBold" panose="02000703000000020004" pitchFamily="50" charset="-127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009223"/>
    <a:srgbClr val="FFCE32"/>
    <a:srgbClr val="3A466A"/>
    <a:srgbClr val="00A5B1"/>
    <a:srgbClr val="FEFEF2"/>
    <a:srgbClr val="FFFBC4"/>
    <a:srgbClr val="E1C777"/>
    <a:srgbClr val="DEC26A"/>
    <a:srgbClr val="6B2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528" autoAdjust="0"/>
    <p:restoredTop sz="86420" autoAdjust="0"/>
  </p:normalViewPr>
  <p:slideViewPr>
    <p:cSldViewPr>
      <p:cViewPr varScale="1">
        <p:scale>
          <a:sx n="52" d="100"/>
          <a:sy n="52" d="100"/>
        </p:scale>
        <p:origin x="120" y="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hyperlink" Target="https://ghol7416open.dothome.co.kr/subway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hyperlink" Target="https://ghol7416open.dothome.co.kr/subway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hyperlink" Target="https://ghol7416open.dothome.co.kr/armoredfresh/" TargetMode="External"/><Relationship Id="rId5" Type="http://schemas.openxmlformats.org/officeDocument/2006/relationships/image" Target="../media/image13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hol7416open.dothome.co.kr/bekseju/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ghol7416open.dothome.co.kr/subway/" TargetMode="External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5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hol7416open.dothome.co.kr/cafebene/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ghol7416open.dothome.co.kr/subway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9.png"/><Relationship Id="rId5" Type="http://schemas.openxmlformats.org/officeDocument/2006/relationships/image" Target="../media/image13.png"/><Relationship Id="rId10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hol7416open.dothome.co.kr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27766"/>
            <a:ext cx="16916400" cy="8699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7734300"/>
            <a:ext cx="15925800" cy="12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197600" y="3564834"/>
            <a:ext cx="5905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2400" spc="600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Park </a:t>
            </a:r>
            <a:r>
              <a:rPr lang="en-US" altLang="ko-KR" sz="2400" spc="600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Kyubin</a:t>
            </a:r>
            <a:endParaRPr lang="ko-KR" sz="2400" b="0" i="0" u="none" strike="noStrike" spc="600" dirty="0">
              <a:solidFill>
                <a:srgbClr val="00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784850" y="5334000"/>
            <a:ext cx="6718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spc="1700" dirty="0" err="1">
                <a:solidFill>
                  <a:srgbClr val="000000"/>
                </a:solidFill>
                <a:latin typeface="Pretendard SemiBold"/>
              </a:rPr>
              <a:t>Designer&amp;Publisher</a:t>
            </a:r>
            <a:endParaRPr lang="en-US" sz="2400" b="0" i="0" u="none" strike="noStrike" spc="1700" dirty="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34000" y="3835400"/>
            <a:ext cx="76200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9000" b="0" i="0" u="none" strike="noStrike" spc="-500" dirty="0">
                <a:solidFill>
                  <a:srgbClr val="000000"/>
                </a:solidFill>
                <a:latin typeface="Pretendard Bold"/>
              </a:rPr>
              <a:t> PORTFOLIO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92700" y="3505200"/>
            <a:ext cx="1790700" cy="236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lang="en-US" sz="13300" b="0" i="0" u="none" strike="noStrike" spc="-700" dirty="0">
              <a:solidFill>
                <a:srgbClr val="000000"/>
              </a:solidFill>
              <a:latin typeface="Mr Dafoe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362700" y="1384300"/>
            <a:ext cx="55626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300" b="0" i="0" u="none" strike="noStrike" dirty="0">
                <a:solidFill>
                  <a:srgbClr val="000000"/>
                </a:solidFill>
                <a:latin typeface="Pretendard Light"/>
              </a:rPr>
              <a:t>2025 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8585200" y="8597900"/>
            <a:ext cx="11049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841500" y="8293100"/>
            <a:ext cx="6629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Pretendard SemiBold"/>
              </a:rPr>
              <a:t>CONTACT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41500" y="8661400"/>
            <a:ext cx="66167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Pretendard Light"/>
              </a:rPr>
              <a:t>PHONE : 010 6621 3738  ⏐   MAIL : </a:t>
            </a:r>
            <a:r>
              <a:rPr lang="en-US" sz="1400" dirty="0">
                <a:solidFill>
                  <a:srgbClr val="000000"/>
                </a:solidFill>
                <a:latin typeface="Pretendard Light"/>
              </a:rPr>
              <a:t>ghol7416open@gmail.com</a:t>
            </a:r>
            <a:endParaRPr lang="en-US" sz="1400" b="0" i="0" u="none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804400" y="8293100"/>
            <a:ext cx="6629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dirty="0">
                <a:solidFill>
                  <a:srgbClr val="000000"/>
                </a:solidFill>
                <a:latin typeface="Pretendard SemiBold"/>
              </a:rPr>
              <a:t>WEB</a:t>
            </a:r>
            <a:endParaRPr lang="en-US" sz="1800" b="0" i="0" u="none" strike="noStrike" dirty="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817100" y="8661400"/>
            <a:ext cx="66167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Pretendard Light"/>
              </a:rPr>
              <a:t>⏐   ghol7416open.dothome.co.kr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6464300" y="5715000"/>
            <a:ext cx="53594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168400" y="863600"/>
            <a:ext cx="159512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400" b="0" i="0" u="none" strike="noStrike" spc="100" dirty="0">
                <a:solidFill>
                  <a:srgbClr val="000000"/>
                </a:solidFill>
                <a:latin typeface="Pretendard Light"/>
              </a:rPr>
              <a:t>Park </a:t>
            </a:r>
            <a:r>
              <a:rPr lang="en-US" altLang="ko-KR" sz="1400" b="0" i="0" u="none" strike="noStrike" spc="100" dirty="0" err="1">
                <a:solidFill>
                  <a:srgbClr val="000000"/>
                </a:solidFill>
                <a:latin typeface="Pretendard Light"/>
              </a:rPr>
              <a:t>Kyubin</a:t>
            </a:r>
            <a:r>
              <a:rPr lang="en-US" altLang="ko-KR" sz="1400" b="0" i="0" u="none" strike="noStrike" spc="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1400" b="0" i="0" u="none" strike="noStrike" spc="100" dirty="0">
                <a:solidFill>
                  <a:srgbClr val="000000"/>
                </a:solidFill>
                <a:latin typeface="Pretendard Light"/>
              </a:rPr>
              <a:t>PORTFOLIO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0300" y="1625600"/>
            <a:ext cx="160020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3800" b="0" i="0" u="none" strike="noStrike" dirty="0">
                <a:solidFill>
                  <a:srgbClr val="000000"/>
                </a:solidFill>
                <a:ea typeface="Pretendard SemiBold"/>
              </a:rPr>
              <a:t>이력사항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01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0" y="5105400"/>
            <a:ext cx="2120900" cy="114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2554" y="4007402"/>
            <a:ext cx="215900" cy="215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9854" y="4439202"/>
            <a:ext cx="241300" cy="177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547645" y="3372402"/>
            <a:ext cx="33782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500" b="0" i="0" u="none" strike="noStrike" dirty="0" err="1">
                <a:solidFill>
                  <a:srgbClr val="000000"/>
                </a:solidFill>
                <a:ea typeface="Pretendard SemiBold"/>
              </a:rPr>
              <a:t>박규빈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latin typeface="Pretendard Light"/>
              </a:rPr>
              <a:t>2002 .11 .17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94354" y="3969302"/>
            <a:ext cx="2908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010-</a:t>
            </a:r>
            <a:r>
              <a:rPr lang="en-US" altLang="ko-KR" sz="1600" b="0" i="0" u="none" strike="noStrike" dirty="0">
                <a:solidFill>
                  <a:srgbClr val="000000"/>
                </a:solidFill>
                <a:latin typeface="Pretendard Light"/>
              </a:rPr>
              <a:t>6621-3738</a:t>
            </a:r>
            <a:endParaRPr lang="en-US" sz="1600" b="0" i="0" u="none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994354" y="4388402"/>
            <a:ext cx="2908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1600" b="0" i="0" u="none" strike="noStrike" dirty="0">
                <a:solidFill>
                  <a:srgbClr val="000000"/>
                </a:solidFill>
                <a:latin typeface="Pretendard Light"/>
              </a:rPr>
              <a:t>ghol7416open@gmail.com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3100" y="3397802"/>
            <a:ext cx="7543800" cy="12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3100" y="4007402"/>
            <a:ext cx="7543800" cy="12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3100" y="3410502"/>
            <a:ext cx="7543800" cy="596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1100" y="5358296"/>
            <a:ext cx="7543800" cy="596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1100" y="5332896"/>
            <a:ext cx="7543800" cy="12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1100" y="5955196"/>
            <a:ext cx="7543800" cy="127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422400" y="5497996"/>
            <a:ext cx="706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000000"/>
                </a:solidFill>
                <a:ea typeface="Pretendard SemiBold"/>
              </a:rPr>
              <a:t>학력사항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5400000">
            <a:off x="9932951" y="5807070"/>
            <a:ext cx="3240000" cy="300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5400000">
            <a:off x="2476500" y="6835361"/>
            <a:ext cx="1371600" cy="127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9804400" y="3550202"/>
            <a:ext cx="706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ko-KR" sz="1800" b="0" i="0" u="none" strike="noStrike" dirty="0">
                <a:solidFill>
                  <a:srgbClr val="000000"/>
                </a:solidFill>
                <a:ea typeface="Pretendard SemiBold"/>
              </a:rPr>
              <a:t>자격사항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55700" y="6488596"/>
            <a:ext cx="18288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2021.03~2025.08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5700" y="6933096"/>
            <a:ext cx="18288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2025.08~2025.12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429000" y="6475896"/>
            <a:ext cx="53340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1700" b="0" i="0" u="none" strike="noStrike" dirty="0">
                <a:solidFill>
                  <a:srgbClr val="000000"/>
                </a:solidFill>
                <a:ea typeface="Pretendard Regular"/>
              </a:rPr>
              <a:t>청주대학교 디지털보안학과 졸업</a:t>
            </a:r>
            <a:endParaRPr lang="ko-KR" sz="1700" b="0" i="0" u="none" strike="noStrike" dirty="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3429000" y="6920396"/>
            <a:ext cx="53340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1700" b="0" i="0" u="none" strike="noStrike" dirty="0">
                <a:solidFill>
                  <a:srgbClr val="000000"/>
                </a:solidFill>
                <a:ea typeface="Pretendard Regular"/>
              </a:rPr>
              <a:t>그린아트컴퓨터학원 웹디자인 </a:t>
            </a:r>
            <a:r>
              <a:rPr lang="en-US" altLang="ko-KR" sz="1700" b="0" i="0" u="none" strike="noStrike" dirty="0">
                <a:solidFill>
                  <a:srgbClr val="000000"/>
                </a:solidFill>
                <a:ea typeface="Pretendard Regular"/>
              </a:rPr>
              <a:t>&amp; </a:t>
            </a:r>
            <a:r>
              <a:rPr lang="ko-KR" altLang="en-US" sz="1700" b="0" i="0" u="none" strike="noStrike" dirty="0" err="1">
                <a:solidFill>
                  <a:srgbClr val="000000"/>
                </a:solidFill>
                <a:ea typeface="Pretendard Regular"/>
              </a:rPr>
              <a:t>웹퍼블리셔</a:t>
            </a:r>
            <a:r>
              <a:rPr lang="ko-KR" altLang="en-US" sz="1700" b="0" i="0" u="none" strike="noStrike" dirty="0">
                <a:solidFill>
                  <a:srgbClr val="000000"/>
                </a:solidFill>
                <a:ea typeface="Pretendard Regular"/>
              </a:rPr>
              <a:t> 과정 수료</a:t>
            </a:r>
            <a:endParaRPr lang="ko-KR" sz="1700" b="0" i="0" u="none" strike="noStrike" dirty="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550400" y="4401102"/>
            <a:ext cx="18288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2018.05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550400" y="5373334"/>
            <a:ext cx="18288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2019.0</a:t>
            </a:r>
            <a:r>
              <a:rPr lang="en-US" altLang="ko-KR" sz="1600" b="0" i="0" u="none" strike="noStrike" dirty="0">
                <a:solidFill>
                  <a:srgbClr val="000000"/>
                </a:solidFill>
                <a:latin typeface="Pretendard Regular"/>
              </a:rPr>
              <a:t>7</a:t>
            </a:r>
            <a:endParaRPr lang="en-US" sz="16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550400" y="5859450"/>
            <a:ext cx="18288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2019.10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811000" y="4388402"/>
            <a:ext cx="53340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ITQ </a:t>
            </a:r>
            <a:r>
              <a:rPr lang="en-US" altLang="ko-KR" sz="17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1700" dirty="0" err="1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한글엑셀</a:t>
            </a:r>
            <a:r>
              <a:rPr lang="en-US" altLang="ko-KR" sz="17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17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아래한글</a:t>
            </a:r>
            <a:r>
              <a:rPr lang="en-US" altLang="ko-KR" sz="17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1700" dirty="0" err="1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한글파워포인트</a:t>
            </a:r>
            <a:r>
              <a:rPr lang="en-US" altLang="ko-KR" sz="17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lang="ko-KR" sz="1700" b="0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811000" y="5360634"/>
            <a:ext cx="53340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전산회계운용사 </a:t>
            </a: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2</a:t>
            </a: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급</a:t>
            </a:r>
            <a:endParaRPr lang="en-US" sz="1700" b="0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1811000" y="5846750"/>
            <a:ext cx="53340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DIAT (</a:t>
            </a:r>
            <a:r>
              <a:rPr lang="ko-KR" altLang="en-US" sz="1700" b="0" i="0" u="none" strike="noStrike" dirty="0" err="1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프리젠테이션</a:t>
            </a: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스프레드시트</a:t>
            </a: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워드프로세서</a:t>
            </a: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lang="ko-KR" sz="1700" b="0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7" name="TextBox 51">
            <a:extLst>
              <a:ext uri="{FF2B5EF4-FFF2-40B4-BE49-F238E27FC236}">
                <a16:creationId xmlns:a16="http://schemas.microsoft.com/office/drawing/2014/main" id="{88E6CAD4-A044-4D42-BEB5-5867BA656C0E}"/>
              </a:ext>
            </a:extLst>
          </p:cNvPr>
          <p:cNvSpPr txBox="1"/>
          <p:nvPr/>
        </p:nvSpPr>
        <p:spPr>
          <a:xfrm>
            <a:off x="9550400" y="6345566"/>
            <a:ext cx="18288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600" b="0" i="0" u="none" strike="noStrike" dirty="0">
                <a:solidFill>
                  <a:srgbClr val="000000"/>
                </a:solidFill>
                <a:latin typeface="Pretendard Regular"/>
              </a:rPr>
              <a:t>2019.12</a:t>
            </a:r>
            <a:endParaRPr lang="en-US" sz="16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58" name="TextBox 54">
            <a:extLst>
              <a:ext uri="{FF2B5EF4-FFF2-40B4-BE49-F238E27FC236}">
                <a16:creationId xmlns:a16="http://schemas.microsoft.com/office/drawing/2014/main" id="{947E2FCC-AB1D-4889-B5CA-A6D0B7363490}"/>
              </a:ext>
            </a:extLst>
          </p:cNvPr>
          <p:cNvSpPr txBox="1"/>
          <p:nvPr/>
        </p:nvSpPr>
        <p:spPr>
          <a:xfrm>
            <a:off x="11811000" y="6332866"/>
            <a:ext cx="53340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ERP</a:t>
            </a: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회계정보관리사 </a:t>
            </a: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2</a:t>
            </a: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급</a:t>
            </a:r>
            <a:endParaRPr lang="ko-KR" sz="1700" b="0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61" name="TextBox 50">
            <a:extLst>
              <a:ext uri="{FF2B5EF4-FFF2-40B4-BE49-F238E27FC236}">
                <a16:creationId xmlns:a16="http://schemas.microsoft.com/office/drawing/2014/main" id="{18052D8C-3044-49B5-86ED-AF216595B752}"/>
              </a:ext>
            </a:extLst>
          </p:cNvPr>
          <p:cNvSpPr txBox="1"/>
          <p:nvPr/>
        </p:nvSpPr>
        <p:spPr>
          <a:xfrm>
            <a:off x="9550400" y="4887218"/>
            <a:ext cx="18288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2019.06</a:t>
            </a:r>
          </a:p>
        </p:txBody>
      </p:sp>
      <p:sp>
        <p:nvSpPr>
          <p:cNvPr id="62" name="TextBox 53">
            <a:extLst>
              <a:ext uri="{FF2B5EF4-FFF2-40B4-BE49-F238E27FC236}">
                <a16:creationId xmlns:a16="http://schemas.microsoft.com/office/drawing/2014/main" id="{C1A6063B-D8F3-494D-9AE3-F07977EE7AB6}"/>
              </a:ext>
            </a:extLst>
          </p:cNvPr>
          <p:cNvSpPr txBox="1"/>
          <p:nvPr/>
        </p:nvSpPr>
        <p:spPr>
          <a:xfrm>
            <a:off x="11811000" y="4874518"/>
            <a:ext cx="53340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컴퓨터활용능력 </a:t>
            </a: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2</a:t>
            </a: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급</a:t>
            </a:r>
            <a:endParaRPr lang="en-US" sz="1700" b="0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63" name="TextBox 51">
            <a:extLst>
              <a:ext uri="{FF2B5EF4-FFF2-40B4-BE49-F238E27FC236}">
                <a16:creationId xmlns:a16="http://schemas.microsoft.com/office/drawing/2014/main" id="{3C9BF9B5-164C-40DD-B7A8-2C08CBBA5587}"/>
              </a:ext>
            </a:extLst>
          </p:cNvPr>
          <p:cNvSpPr txBox="1"/>
          <p:nvPr/>
        </p:nvSpPr>
        <p:spPr>
          <a:xfrm>
            <a:off x="9550400" y="6831684"/>
            <a:ext cx="18288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600" b="0" i="0" u="none" strike="noStrike" dirty="0">
                <a:solidFill>
                  <a:srgbClr val="000000"/>
                </a:solidFill>
                <a:latin typeface="Pretendard Regular"/>
              </a:rPr>
              <a:t>2025.09</a:t>
            </a:r>
            <a:endParaRPr lang="en-US" sz="16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64" name="TextBox 54">
            <a:extLst>
              <a:ext uri="{FF2B5EF4-FFF2-40B4-BE49-F238E27FC236}">
                <a16:creationId xmlns:a16="http://schemas.microsoft.com/office/drawing/2014/main" id="{C1D258B4-B168-429A-A38E-18D9CE14087A}"/>
              </a:ext>
            </a:extLst>
          </p:cNvPr>
          <p:cNvSpPr txBox="1"/>
          <p:nvPr/>
        </p:nvSpPr>
        <p:spPr>
          <a:xfrm>
            <a:off x="11811000" y="6818984"/>
            <a:ext cx="53340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2</a:t>
            </a: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종보통운전면허</a:t>
            </a:r>
            <a:endParaRPr lang="ko-KR" sz="1700" b="0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3800" b="0" i="0" u="none" strike="noStrik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SUBWAY</a:t>
            </a:r>
            <a:endParaRPr lang="ko-KR" sz="3800" b="0" i="0" u="none" strike="noStrike" dirty="0">
              <a:solidFill>
                <a:srgbClr val="00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dirty="0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sz="1500" dirty="0">
                <a:solidFill>
                  <a:srgbClr val="000000"/>
                </a:solidFill>
                <a:latin typeface="Pretendard Bold"/>
              </a:rPr>
              <a:t>2</a:t>
            </a:r>
            <a:endParaRPr lang="en-US" sz="1500" b="0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2501900"/>
            <a:ext cx="159258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6248043" y="5490385"/>
            <a:ext cx="4320000" cy="15429"/>
          </a:xfrm>
          <a:prstGeom prst="rect">
            <a:avLst/>
          </a:prstGeom>
        </p:spPr>
      </p:pic>
      <p:sp>
        <p:nvSpPr>
          <p:cNvPr id="19" name="TextBox 9">
            <a:extLst>
              <a:ext uri="{FF2B5EF4-FFF2-40B4-BE49-F238E27FC236}">
                <a16:creationId xmlns:a16="http://schemas.microsoft.com/office/drawing/2014/main" id="{F004A20C-A426-4A58-8513-127B85B14E71}"/>
              </a:ext>
            </a:extLst>
          </p:cNvPr>
          <p:cNvSpPr txBox="1"/>
          <p:nvPr/>
        </p:nvSpPr>
        <p:spPr>
          <a:xfrm>
            <a:off x="1168400" y="863600"/>
            <a:ext cx="159512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400" b="0" i="0" u="none" strike="noStrike" spc="100" dirty="0">
                <a:solidFill>
                  <a:srgbClr val="000000"/>
                </a:solidFill>
                <a:latin typeface="Pretendard Light"/>
              </a:rPr>
              <a:t>Park </a:t>
            </a:r>
            <a:r>
              <a:rPr lang="en-US" altLang="ko-KR" sz="1400" b="0" i="0" u="none" strike="noStrike" spc="100" dirty="0" err="1">
                <a:solidFill>
                  <a:srgbClr val="000000"/>
                </a:solidFill>
                <a:latin typeface="Pretendard Light"/>
              </a:rPr>
              <a:t>Kyubin</a:t>
            </a:r>
            <a:r>
              <a:rPr lang="en-US" altLang="ko-KR" sz="1400" b="0" i="0" u="none" strike="noStrike" spc="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1400" b="0" i="0" u="none" strike="noStrike" spc="100" dirty="0">
                <a:solidFill>
                  <a:srgbClr val="000000"/>
                </a:solidFill>
                <a:latin typeface="Pretendard Light"/>
              </a:rPr>
              <a:t>PORTFOLIO</a:t>
            </a: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0460FF63-3FA4-4D0C-ACF8-BF1488B8C2AE}"/>
              </a:ext>
            </a:extLst>
          </p:cNvPr>
          <p:cNvSpPr txBox="1"/>
          <p:nvPr/>
        </p:nvSpPr>
        <p:spPr>
          <a:xfrm>
            <a:off x="5829300" y="8986222"/>
            <a:ext cx="6629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800" b="0" i="0" strike="noStrike" dirty="0">
                <a:solidFill>
                  <a:srgbClr val="000000"/>
                </a:solidFill>
                <a:latin typeface="Pretendard SemiBold"/>
              </a:rPr>
              <a:t>Website</a:t>
            </a:r>
          </a:p>
        </p:txBody>
      </p:sp>
      <p:sp>
        <p:nvSpPr>
          <p:cNvPr id="25" name="TextBox 13">
            <a:hlinkClick r:id="rId7"/>
            <a:extLst>
              <a:ext uri="{FF2B5EF4-FFF2-40B4-BE49-F238E27FC236}">
                <a16:creationId xmlns:a16="http://schemas.microsoft.com/office/drawing/2014/main" id="{A55EF1D6-4D61-4191-BBFD-B2E24227FCC3}"/>
              </a:ext>
            </a:extLst>
          </p:cNvPr>
          <p:cNvSpPr txBox="1"/>
          <p:nvPr/>
        </p:nvSpPr>
        <p:spPr>
          <a:xfrm>
            <a:off x="5835650" y="9354522"/>
            <a:ext cx="66167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1400" b="0" i="0" strike="noStrike" dirty="0">
                <a:solidFill>
                  <a:srgbClr val="000000"/>
                </a:solidFill>
                <a:latin typeface="Pretendard Light"/>
              </a:rPr>
              <a:t>바로가기</a:t>
            </a:r>
            <a:endParaRPr lang="en-US" sz="1400" b="0" i="0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9150B39E-C8AD-4AC9-9BFE-39777EE59044}"/>
              </a:ext>
            </a:extLst>
          </p:cNvPr>
          <p:cNvSpPr txBox="1"/>
          <p:nvPr/>
        </p:nvSpPr>
        <p:spPr>
          <a:xfrm>
            <a:off x="9144000" y="5536850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Color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739DA6AC-3558-433D-85F7-54EB05CDA4D4}"/>
              </a:ext>
            </a:extLst>
          </p:cNvPr>
          <p:cNvSpPr txBox="1"/>
          <p:nvPr/>
        </p:nvSpPr>
        <p:spPr>
          <a:xfrm>
            <a:off x="9144000" y="6510876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Font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7A51458-7982-401E-98C9-251D04D30AEE}"/>
              </a:ext>
            </a:extLst>
          </p:cNvPr>
          <p:cNvSpPr/>
          <p:nvPr/>
        </p:nvSpPr>
        <p:spPr>
          <a:xfrm>
            <a:off x="9144000" y="5969165"/>
            <a:ext cx="317335" cy="317335"/>
          </a:xfrm>
          <a:prstGeom prst="ellipse">
            <a:avLst/>
          </a:prstGeom>
          <a:solidFill>
            <a:srgbClr val="FFCE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D2ADECA-24BF-4D5C-BBEE-E2410C28F19D}"/>
              </a:ext>
            </a:extLst>
          </p:cNvPr>
          <p:cNvSpPr/>
          <p:nvPr/>
        </p:nvSpPr>
        <p:spPr>
          <a:xfrm>
            <a:off x="9873528" y="5969165"/>
            <a:ext cx="317335" cy="317335"/>
          </a:xfrm>
          <a:prstGeom prst="ellipse">
            <a:avLst/>
          </a:prstGeom>
          <a:solidFill>
            <a:srgbClr val="00922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hlinkClick r:id="rId7"/>
            <a:extLst>
              <a:ext uri="{FF2B5EF4-FFF2-40B4-BE49-F238E27FC236}">
                <a16:creationId xmlns:a16="http://schemas.microsoft.com/office/drawing/2014/main" id="{6DAB40AB-5F9E-44FC-8DEB-EB4F2F77C14C}"/>
              </a:ext>
            </a:extLst>
          </p:cNvPr>
          <p:cNvSpPr/>
          <p:nvPr/>
        </p:nvSpPr>
        <p:spPr>
          <a:xfrm>
            <a:off x="7829550" y="8948608"/>
            <a:ext cx="2628900" cy="69069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A0C0A2C-B091-440F-AF40-015E471BD99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734" y="3422896"/>
            <a:ext cx="4917279" cy="413201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EAE6541-E1A9-456E-B565-9B3C2147BDE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7253"/>
          <a:stretch/>
        </p:blipFill>
        <p:spPr>
          <a:xfrm>
            <a:off x="9144000" y="6959393"/>
            <a:ext cx="1509856" cy="400519"/>
          </a:xfrm>
          <a:prstGeom prst="rect">
            <a:avLst/>
          </a:prstGeom>
        </p:spPr>
      </p:pic>
      <p:sp>
        <p:nvSpPr>
          <p:cNvPr id="35" name="TextBox 20">
            <a:extLst>
              <a:ext uri="{FF2B5EF4-FFF2-40B4-BE49-F238E27FC236}">
                <a16:creationId xmlns:a16="http://schemas.microsoft.com/office/drawing/2014/main" id="{7480B163-4D3C-4B8C-91EF-F33301FB6EE6}"/>
              </a:ext>
            </a:extLst>
          </p:cNvPr>
          <p:cNvSpPr txBox="1"/>
          <p:nvPr/>
        </p:nvSpPr>
        <p:spPr>
          <a:xfrm>
            <a:off x="9144000" y="3513638"/>
            <a:ext cx="7949210" cy="167342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이 프로젝트는 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SUBWAY 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브랜드 웹사이트의 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UX/UI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개선하기 위한 리뉴얼 작업입니다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웹페이지의 브랜드 아이덴티티를 반영한 디자인 가이드를 기반으로 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UI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디자인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구현하였습니다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Swiper, AOS animation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등을 적극적으로 활용하여 웹페이지를 보다 동적으로 보이도록 제작하였습니다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  <a:p>
            <a:pPr lvl="0">
              <a:lnSpc>
                <a:spcPct val="116199"/>
              </a:lnSpc>
            </a:pPr>
            <a:r>
              <a:rPr 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Gnuboard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활용한 회원가입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로그인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게시판 시스템을 웹사이트에 적용시켰습니다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8" name="TextBox 20">
            <a:extLst>
              <a:ext uri="{FF2B5EF4-FFF2-40B4-BE49-F238E27FC236}">
                <a16:creationId xmlns:a16="http://schemas.microsoft.com/office/drawing/2014/main" id="{62F6E6A4-59E9-4EE4-9B4A-E800ADB9316D}"/>
              </a:ext>
            </a:extLst>
          </p:cNvPr>
          <p:cNvSpPr txBox="1"/>
          <p:nvPr/>
        </p:nvSpPr>
        <p:spPr>
          <a:xfrm>
            <a:off x="12178310" y="5981782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sz="1700" dirty="0">
                <a:solidFill>
                  <a:srgbClr val="000000"/>
                </a:solidFill>
                <a:latin typeface="Pretendard Light"/>
              </a:rPr>
              <a:t>리뉴얼</a:t>
            </a: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Light"/>
              </a:rPr>
              <a:t>	 </a:t>
            </a: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Light"/>
              </a:rPr>
              <a:t>퍼블리싱</a:t>
            </a:r>
            <a:endParaRPr lang="en-US" altLang="ko-KR" sz="1700" b="0" i="0" u="none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4FF572D3-ABE1-48A4-A8B7-198C218812B1}"/>
              </a:ext>
            </a:extLst>
          </p:cNvPr>
          <p:cNvSpPr txBox="1"/>
          <p:nvPr/>
        </p:nvSpPr>
        <p:spPr>
          <a:xfrm>
            <a:off x="12178310" y="6955808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Light"/>
              </a:rPr>
              <a:t>Html5	  css3	    </a:t>
            </a:r>
            <a:r>
              <a:rPr lang="en-US" altLang="ko-KR" sz="1700" b="0" i="0" u="none" strike="noStrike" dirty="0" err="1">
                <a:solidFill>
                  <a:srgbClr val="000000"/>
                </a:solidFill>
                <a:latin typeface="Pretendard Light"/>
              </a:rPr>
              <a:t>js</a:t>
            </a:r>
            <a:r>
              <a:rPr lang="en-US" altLang="ko-KR" sz="1700" dirty="0">
                <a:solidFill>
                  <a:srgbClr val="000000"/>
                </a:solidFill>
                <a:latin typeface="Pretendard Light"/>
              </a:rPr>
              <a:t>	</a:t>
            </a:r>
            <a:r>
              <a:rPr lang="en-US" altLang="ko-KR" sz="1700" b="0" i="0" u="none" strike="noStrike" dirty="0" err="1">
                <a:solidFill>
                  <a:srgbClr val="000000"/>
                </a:solidFill>
                <a:latin typeface="Pretendard Light"/>
              </a:rPr>
              <a:t>jquery</a:t>
            </a: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Light"/>
              </a:rPr>
              <a:t>	</a:t>
            </a:r>
            <a:r>
              <a:rPr lang="en-US" altLang="ko-KR" sz="1700" b="0" i="0" u="none" strike="noStrike" dirty="0" err="1">
                <a:solidFill>
                  <a:srgbClr val="000000"/>
                </a:solidFill>
                <a:latin typeface="Pretendard Light"/>
              </a:rPr>
              <a:t>figma</a:t>
            </a:r>
            <a:endParaRPr lang="en-US" altLang="ko-KR" sz="1700" b="0" i="0" u="none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233ABAC1-8B53-4847-AAA3-63A9E72ED65B}"/>
              </a:ext>
            </a:extLst>
          </p:cNvPr>
          <p:cNvSpPr txBox="1"/>
          <p:nvPr/>
        </p:nvSpPr>
        <p:spPr>
          <a:xfrm>
            <a:off x="12178310" y="5536850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작업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443F9714-7963-4D01-9D13-480DFB6B7B40}"/>
              </a:ext>
            </a:extLst>
          </p:cNvPr>
          <p:cNvSpPr txBox="1"/>
          <p:nvPr/>
        </p:nvSpPr>
        <p:spPr>
          <a:xfrm>
            <a:off x="12178310" y="6510876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Tools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0DA432E5-1307-4360-B34D-AF1D6A6BE103}"/>
              </a:ext>
            </a:extLst>
          </p:cNvPr>
          <p:cNvSpPr txBox="1"/>
          <p:nvPr/>
        </p:nvSpPr>
        <p:spPr>
          <a:xfrm>
            <a:off x="15373350" y="5536850"/>
            <a:ext cx="78105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기여도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54A7C641-58A3-474E-9F38-9C931004E126}"/>
              </a:ext>
            </a:extLst>
          </p:cNvPr>
          <p:cNvSpPr txBox="1"/>
          <p:nvPr/>
        </p:nvSpPr>
        <p:spPr>
          <a:xfrm>
            <a:off x="15487650" y="5981782"/>
            <a:ext cx="55245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Light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25145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155700" y="9118600"/>
            <a:ext cx="15963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1600" b="0" i="0" u="none" strike="noStrike" dirty="0" err="1">
                <a:solidFill>
                  <a:srgbClr val="000000"/>
                </a:solidFill>
                <a:latin typeface="Pretendard Light"/>
              </a:rPr>
              <a:t>gnuboard</a:t>
            </a:r>
            <a:r>
              <a:rPr lang="ko-KR" altLang="en-US" sz="1600" b="0" i="0" u="none" strike="noStrike" dirty="0">
                <a:solidFill>
                  <a:srgbClr val="000000"/>
                </a:solidFill>
                <a:latin typeface="Pretendard Light"/>
              </a:rPr>
              <a:t>를 활용한 로그인</a:t>
            </a:r>
            <a:r>
              <a:rPr lang="en-US" altLang="ko-KR" sz="1600" b="0" i="0" u="none" strike="noStrike" dirty="0">
                <a:solidFill>
                  <a:srgbClr val="000000"/>
                </a:solidFill>
                <a:latin typeface="Pretendard Light"/>
              </a:rPr>
              <a:t>/</a:t>
            </a:r>
            <a:r>
              <a:rPr lang="ko-KR" altLang="en-US" sz="1600" b="0" i="0" u="none" strike="noStrike" dirty="0">
                <a:solidFill>
                  <a:srgbClr val="000000"/>
                </a:solidFill>
                <a:latin typeface="Pretendard Light"/>
              </a:rPr>
              <a:t>회원가입</a:t>
            </a:r>
            <a:r>
              <a:rPr lang="en-US" altLang="ko-KR" sz="1600" b="0" i="0" u="none" strike="noStrike" dirty="0">
                <a:solidFill>
                  <a:srgbClr val="000000"/>
                </a:solidFill>
                <a:latin typeface="Pretendard Light"/>
              </a:rPr>
              <a:t>/</a:t>
            </a:r>
            <a:r>
              <a:rPr lang="ko-KR" altLang="en-US" sz="1600" b="0" i="0" u="none" strike="noStrike" dirty="0">
                <a:solidFill>
                  <a:srgbClr val="000000"/>
                </a:solidFill>
                <a:latin typeface="Pretendard Light"/>
              </a:rPr>
              <a:t>게시판 페이지</a:t>
            </a:r>
            <a:endParaRPr lang="en-US" sz="1600" b="0" i="0" u="none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316450" y="647700"/>
            <a:ext cx="381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dirty="0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 dirty="0">
                <a:solidFill>
                  <a:srgbClr val="000000"/>
                </a:solidFill>
                <a:latin typeface="Pretendard Bold"/>
              </a:rPr>
              <a:t>3</a:t>
            </a:r>
            <a:endParaRPr lang="en-US" sz="1500" b="0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7" name="그림 86">
            <a:extLst>
              <a:ext uri="{FF2B5EF4-FFF2-40B4-BE49-F238E27FC236}">
                <a16:creationId xmlns:a16="http://schemas.microsoft.com/office/drawing/2014/main" id="{E486FF2C-2C41-4F50-8054-C80FBD9AE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1756" y="895350"/>
            <a:ext cx="6023992" cy="32829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055ED499-67A9-4E37-A273-019CBE51E93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833" r="16992" b="25402"/>
          <a:stretch/>
        </p:blipFill>
        <p:spPr>
          <a:xfrm>
            <a:off x="1325370" y="894386"/>
            <a:ext cx="5789956" cy="32839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D55866FB-BB2C-4E54-B507-C43CF140A7F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741" t="36972" r="9869" b="36332"/>
          <a:stretch/>
        </p:blipFill>
        <p:spPr>
          <a:xfrm>
            <a:off x="10706100" y="5949950"/>
            <a:ext cx="6400800" cy="1130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B84577B0-CF5D-4A26-9E11-D0A01AD8B5E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969" t="26673" r="2820" b="16790"/>
          <a:stretch/>
        </p:blipFill>
        <p:spPr>
          <a:xfrm>
            <a:off x="3575050" y="4987544"/>
            <a:ext cx="5562600" cy="35087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EA8FD39E-D714-4DED-8B9A-C980B43B7DBA}"/>
              </a:ext>
            </a:extLst>
          </p:cNvPr>
          <p:cNvCxnSpPr/>
          <p:nvPr/>
        </p:nvCxnSpPr>
        <p:spPr>
          <a:xfrm>
            <a:off x="7315200" y="2400300"/>
            <a:ext cx="121920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52DFCC91-F106-4F13-9B69-5BE321559E1E}"/>
              </a:ext>
            </a:extLst>
          </p:cNvPr>
          <p:cNvCxnSpPr/>
          <p:nvPr/>
        </p:nvCxnSpPr>
        <p:spPr>
          <a:xfrm>
            <a:off x="9296400" y="6515100"/>
            <a:ext cx="121920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A03685B7-EF19-4B29-9489-30B47C1B1659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56350" y="4178300"/>
            <a:ext cx="5417402" cy="453644"/>
          </a:xfrm>
          <a:prstGeom prst="bentConnector3">
            <a:avLst>
              <a:gd name="adj1" fmla="val 167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6DDF7818-44E5-4A0F-9F5F-563446BC5607}"/>
              </a:ext>
            </a:extLst>
          </p:cNvPr>
          <p:cNvCxnSpPr>
            <a:cxnSpLocks/>
          </p:cNvCxnSpPr>
          <p:nvPr/>
        </p:nvCxnSpPr>
        <p:spPr>
          <a:xfrm>
            <a:off x="6364287" y="4631945"/>
            <a:ext cx="0" cy="28295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7A120A-84CD-4199-B8CC-A8261E806808}"/>
              </a:ext>
            </a:extLst>
          </p:cNvPr>
          <p:cNvSpPr txBox="1"/>
          <p:nvPr/>
        </p:nvSpPr>
        <p:spPr>
          <a:xfrm>
            <a:off x="3772148" y="4263023"/>
            <a:ext cx="896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회원가입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B2E058-D566-4CE1-854A-40500F6756D1}"/>
              </a:ext>
            </a:extLst>
          </p:cNvPr>
          <p:cNvSpPr txBox="1"/>
          <p:nvPr/>
        </p:nvSpPr>
        <p:spPr>
          <a:xfrm>
            <a:off x="13804967" y="4263023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게시판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0DAF47-9601-4A5D-9D7D-911631333521}"/>
              </a:ext>
            </a:extLst>
          </p:cNvPr>
          <p:cNvSpPr txBox="1"/>
          <p:nvPr/>
        </p:nvSpPr>
        <p:spPr>
          <a:xfrm>
            <a:off x="3658334" y="4585607"/>
            <a:ext cx="1124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게시글 작성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88B727-DDE1-4499-A874-0DEE50B5E10A}"/>
              </a:ext>
            </a:extLst>
          </p:cNvPr>
          <p:cNvSpPr txBox="1"/>
          <p:nvPr/>
        </p:nvSpPr>
        <p:spPr>
          <a:xfrm>
            <a:off x="13141709" y="7164973"/>
            <a:ext cx="1529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게시글 작성 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3800" b="0" i="0" u="none" strike="noStrik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ARMOREDFRESH</a:t>
            </a:r>
            <a:endParaRPr lang="ko-KR" sz="3800" b="0" i="0" u="none" strike="noStrike" dirty="0">
              <a:solidFill>
                <a:srgbClr val="00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dirty="0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 dirty="0">
                <a:solidFill>
                  <a:srgbClr val="000000"/>
                </a:solidFill>
                <a:latin typeface="Pretendard Bold"/>
              </a:rPr>
              <a:t>4</a:t>
            </a:r>
            <a:endParaRPr lang="en-US" sz="1500" b="0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2501900"/>
            <a:ext cx="159258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6248043" y="5490385"/>
            <a:ext cx="4320000" cy="15429"/>
          </a:xfrm>
          <a:prstGeom prst="rect">
            <a:avLst/>
          </a:prstGeom>
        </p:spPr>
      </p:pic>
      <p:sp>
        <p:nvSpPr>
          <p:cNvPr id="19" name="TextBox 9">
            <a:extLst>
              <a:ext uri="{FF2B5EF4-FFF2-40B4-BE49-F238E27FC236}">
                <a16:creationId xmlns:a16="http://schemas.microsoft.com/office/drawing/2014/main" id="{F004A20C-A426-4A58-8513-127B85B14E71}"/>
              </a:ext>
            </a:extLst>
          </p:cNvPr>
          <p:cNvSpPr txBox="1"/>
          <p:nvPr/>
        </p:nvSpPr>
        <p:spPr>
          <a:xfrm>
            <a:off x="1168400" y="863600"/>
            <a:ext cx="159512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400" b="0" i="0" u="none" strike="noStrike" spc="100" dirty="0">
                <a:solidFill>
                  <a:srgbClr val="000000"/>
                </a:solidFill>
                <a:latin typeface="Pretendard Light"/>
              </a:rPr>
              <a:t>Park </a:t>
            </a:r>
            <a:r>
              <a:rPr lang="en-US" altLang="ko-KR" sz="1400" b="0" i="0" u="none" strike="noStrike" spc="100" dirty="0" err="1">
                <a:solidFill>
                  <a:srgbClr val="000000"/>
                </a:solidFill>
                <a:latin typeface="Pretendard Light"/>
              </a:rPr>
              <a:t>Kyubin</a:t>
            </a:r>
            <a:r>
              <a:rPr lang="en-US" altLang="ko-KR" sz="1400" b="0" i="0" u="none" strike="noStrike" spc="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1400" b="0" i="0" u="none" strike="noStrike" spc="100" dirty="0">
                <a:solidFill>
                  <a:srgbClr val="000000"/>
                </a:solidFill>
                <a:latin typeface="Pretendard Light"/>
              </a:rPr>
              <a:t>PORTFOLIO</a:t>
            </a: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0460FF63-3FA4-4D0C-ACF8-BF1488B8C2AE}"/>
              </a:ext>
            </a:extLst>
          </p:cNvPr>
          <p:cNvSpPr txBox="1"/>
          <p:nvPr/>
        </p:nvSpPr>
        <p:spPr>
          <a:xfrm>
            <a:off x="5829300" y="8986222"/>
            <a:ext cx="6629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800" b="0" i="0" strike="noStrike" dirty="0">
                <a:solidFill>
                  <a:srgbClr val="000000"/>
                </a:solidFill>
                <a:latin typeface="Pretendard SemiBold"/>
              </a:rPr>
              <a:t>Website</a:t>
            </a:r>
          </a:p>
        </p:txBody>
      </p:sp>
      <p:sp>
        <p:nvSpPr>
          <p:cNvPr id="25" name="TextBox 13">
            <a:hlinkClick r:id="rId7"/>
            <a:extLst>
              <a:ext uri="{FF2B5EF4-FFF2-40B4-BE49-F238E27FC236}">
                <a16:creationId xmlns:a16="http://schemas.microsoft.com/office/drawing/2014/main" id="{A55EF1D6-4D61-4191-BBFD-B2E24227FCC3}"/>
              </a:ext>
            </a:extLst>
          </p:cNvPr>
          <p:cNvSpPr txBox="1"/>
          <p:nvPr/>
        </p:nvSpPr>
        <p:spPr>
          <a:xfrm>
            <a:off x="5835650" y="9354522"/>
            <a:ext cx="66167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1400" b="0" i="0" strike="noStrike" dirty="0">
                <a:solidFill>
                  <a:srgbClr val="000000"/>
                </a:solidFill>
                <a:latin typeface="Pretendard Light"/>
              </a:rPr>
              <a:t>바로가기</a:t>
            </a:r>
            <a:endParaRPr lang="en-US" sz="1400" b="0" i="0" strike="noStrike" dirty="0">
              <a:solidFill>
                <a:srgbClr val="000000"/>
              </a:solidFill>
              <a:latin typeface="Pretendard Ligh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F55D37-84BE-4075-A74A-E623E75B815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48" y="3425247"/>
            <a:ext cx="6492708" cy="4224414"/>
          </a:xfrm>
          <a:prstGeom prst="rect">
            <a:avLst/>
          </a:prstGeom>
        </p:spPr>
      </p:pic>
      <p:sp>
        <p:nvSpPr>
          <p:cNvPr id="28" name="TextBox 20">
            <a:extLst>
              <a:ext uri="{FF2B5EF4-FFF2-40B4-BE49-F238E27FC236}">
                <a16:creationId xmlns:a16="http://schemas.microsoft.com/office/drawing/2014/main" id="{85A59843-B520-48FA-AD37-0C2FDBA8158A}"/>
              </a:ext>
            </a:extLst>
          </p:cNvPr>
          <p:cNvSpPr txBox="1"/>
          <p:nvPr/>
        </p:nvSpPr>
        <p:spPr>
          <a:xfrm>
            <a:off x="9144000" y="3512386"/>
            <a:ext cx="7696200" cy="191050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프로젝트는 식물성 치즈 브랜드 </a:t>
            </a:r>
            <a:r>
              <a:rPr lang="en-US" altLang="ko-KR" b="1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Armoredfresh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공식 웹사이트를 분석하여 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UX/UI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동일하거나 유사하게 구현한 클론 코딩 프로젝트입니다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브랜드 사이트의 디자인 스타일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콘텐츠 구성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모션 효과 등을 직접 </a:t>
            </a:r>
            <a:r>
              <a:rPr lang="ko-KR" altLang="en-US" b="1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퍼블리싱하여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실무에 준하는 웹 구축 경험을 쌓는 것을 목표로 진행되었습니다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  <a:p>
            <a:pPr lvl="0">
              <a:lnSpc>
                <a:spcPct val="116199"/>
              </a:lnSpc>
            </a:pPr>
            <a:r>
              <a:rPr 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Index 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페이지와 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our mission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페이지를 제작하였으며 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Index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페이지는 반응형으로 제작되었습니다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9150B39E-C8AD-4AC9-9BFE-39777EE59044}"/>
              </a:ext>
            </a:extLst>
          </p:cNvPr>
          <p:cNvSpPr txBox="1"/>
          <p:nvPr/>
        </p:nvSpPr>
        <p:spPr>
          <a:xfrm>
            <a:off x="9131300" y="5536850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Color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739DA6AC-3558-433D-85F7-54EB05CDA4D4}"/>
              </a:ext>
            </a:extLst>
          </p:cNvPr>
          <p:cNvSpPr txBox="1"/>
          <p:nvPr/>
        </p:nvSpPr>
        <p:spPr>
          <a:xfrm>
            <a:off x="9131300" y="6510876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Font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3686938-C465-498C-AC45-B5C943E928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1300" y="6910074"/>
            <a:ext cx="995953" cy="325949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B3C7E69-D00C-445D-B053-1150408F78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1300" y="7327464"/>
            <a:ext cx="1644231" cy="320383"/>
          </a:xfrm>
          <a:prstGeom prst="rect">
            <a:avLst/>
          </a:prstGeom>
        </p:spPr>
      </p:pic>
      <p:sp>
        <p:nvSpPr>
          <p:cNvPr id="36" name="타원 35">
            <a:extLst>
              <a:ext uri="{FF2B5EF4-FFF2-40B4-BE49-F238E27FC236}">
                <a16:creationId xmlns:a16="http://schemas.microsoft.com/office/drawing/2014/main" id="{A7A51458-7982-401E-98C9-251D04D30AEE}"/>
              </a:ext>
            </a:extLst>
          </p:cNvPr>
          <p:cNvSpPr/>
          <p:nvPr/>
        </p:nvSpPr>
        <p:spPr>
          <a:xfrm>
            <a:off x="9131300" y="5969165"/>
            <a:ext cx="317335" cy="317335"/>
          </a:xfrm>
          <a:prstGeom prst="ellipse">
            <a:avLst/>
          </a:prstGeom>
          <a:solidFill>
            <a:srgbClr val="6B2E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D2ADECA-24BF-4D5C-BBEE-E2410C28F19D}"/>
              </a:ext>
            </a:extLst>
          </p:cNvPr>
          <p:cNvSpPr/>
          <p:nvPr/>
        </p:nvSpPr>
        <p:spPr>
          <a:xfrm>
            <a:off x="9873528" y="5969165"/>
            <a:ext cx="317335" cy="317335"/>
          </a:xfrm>
          <a:prstGeom prst="ellipse">
            <a:avLst/>
          </a:prstGeom>
          <a:solidFill>
            <a:srgbClr val="E1C77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hlinkClick r:id="rId11"/>
            <a:extLst>
              <a:ext uri="{FF2B5EF4-FFF2-40B4-BE49-F238E27FC236}">
                <a16:creationId xmlns:a16="http://schemas.microsoft.com/office/drawing/2014/main" id="{6DAB40AB-5F9E-44FC-8DEB-EB4F2F77C14C}"/>
              </a:ext>
            </a:extLst>
          </p:cNvPr>
          <p:cNvSpPr/>
          <p:nvPr/>
        </p:nvSpPr>
        <p:spPr>
          <a:xfrm>
            <a:off x="7829550" y="8948608"/>
            <a:ext cx="2628900" cy="690692"/>
          </a:xfrm>
          <a:prstGeom prst="round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358B0DED-3AF2-47B7-9241-2ECD472FD603}"/>
              </a:ext>
            </a:extLst>
          </p:cNvPr>
          <p:cNvSpPr txBox="1"/>
          <p:nvPr/>
        </p:nvSpPr>
        <p:spPr>
          <a:xfrm>
            <a:off x="12178310" y="5981782"/>
            <a:ext cx="237589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Light"/>
              </a:rPr>
              <a:t>반응형</a:t>
            </a: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Light"/>
              </a:rPr>
              <a:t>	 </a:t>
            </a: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Light"/>
              </a:rPr>
              <a:t>퍼블리싱</a:t>
            </a:r>
            <a:endParaRPr lang="en-US" altLang="ko-KR" sz="1700" b="0" i="0" u="none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4CCFBB2C-2305-4CCC-9CC1-14C8D9F6C999}"/>
              </a:ext>
            </a:extLst>
          </p:cNvPr>
          <p:cNvSpPr txBox="1"/>
          <p:nvPr/>
        </p:nvSpPr>
        <p:spPr>
          <a:xfrm>
            <a:off x="12178310" y="6961726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Light"/>
              </a:rPr>
              <a:t>Html5	  css3	    </a:t>
            </a:r>
            <a:r>
              <a:rPr lang="en-US" altLang="ko-KR" sz="1700" b="0" i="0" u="none" strike="noStrike" dirty="0" err="1">
                <a:solidFill>
                  <a:srgbClr val="000000"/>
                </a:solidFill>
                <a:latin typeface="Pretendard Light"/>
              </a:rPr>
              <a:t>js</a:t>
            </a:r>
            <a:r>
              <a:rPr lang="en-US" altLang="ko-KR" sz="1700" dirty="0">
                <a:solidFill>
                  <a:srgbClr val="000000"/>
                </a:solidFill>
                <a:latin typeface="Pretendard Light"/>
              </a:rPr>
              <a:t>	</a:t>
            </a:r>
            <a:r>
              <a:rPr lang="en-US" altLang="ko-KR" sz="1700" b="0" i="0" u="none" strike="noStrike" dirty="0" err="1">
                <a:solidFill>
                  <a:srgbClr val="000000"/>
                </a:solidFill>
                <a:latin typeface="Pretendard Light"/>
              </a:rPr>
              <a:t>jquery</a:t>
            </a:r>
            <a:endParaRPr lang="en-US" altLang="ko-KR" sz="1700" b="0" i="0" u="none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6FBA29A9-3ED4-4194-890D-753C4ACDF8DD}"/>
              </a:ext>
            </a:extLst>
          </p:cNvPr>
          <p:cNvSpPr txBox="1"/>
          <p:nvPr/>
        </p:nvSpPr>
        <p:spPr>
          <a:xfrm>
            <a:off x="12178310" y="5536850"/>
            <a:ext cx="1128402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작업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4" name="TextBox 21">
            <a:extLst>
              <a:ext uri="{FF2B5EF4-FFF2-40B4-BE49-F238E27FC236}">
                <a16:creationId xmlns:a16="http://schemas.microsoft.com/office/drawing/2014/main" id="{586C0428-A03F-42B7-BD93-C6952FC47262}"/>
              </a:ext>
            </a:extLst>
          </p:cNvPr>
          <p:cNvSpPr txBox="1"/>
          <p:nvPr/>
        </p:nvSpPr>
        <p:spPr>
          <a:xfrm>
            <a:off x="12178310" y="6510876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Tools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3D4E4753-25B5-469F-9E8E-6EA9DE9B29EF}"/>
              </a:ext>
            </a:extLst>
          </p:cNvPr>
          <p:cNvSpPr txBox="1"/>
          <p:nvPr/>
        </p:nvSpPr>
        <p:spPr>
          <a:xfrm>
            <a:off x="15373350" y="5536850"/>
            <a:ext cx="78105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기여도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CA054C1D-1155-4E59-82D0-97F311717340}"/>
              </a:ext>
            </a:extLst>
          </p:cNvPr>
          <p:cNvSpPr txBox="1"/>
          <p:nvPr/>
        </p:nvSpPr>
        <p:spPr>
          <a:xfrm>
            <a:off x="15487650" y="5981782"/>
            <a:ext cx="55245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Light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492207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3800" b="0" i="0" u="none" strike="noStrik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BEKSEJU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dirty="0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sz="1500" dirty="0">
                <a:solidFill>
                  <a:srgbClr val="000000"/>
                </a:solidFill>
                <a:latin typeface="Pretendard Bold"/>
              </a:rPr>
              <a:t>5</a:t>
            </a:r>
            <a:endParaRPr lang="en-US" sz="1500" b="0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2501900"/>
            <a:ext cx="159258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6248043" y="5490385"/>
            <a:ext cx="4320000" cy="15429"/>
          </a:xfrm>
          <a:prstGeom prst="rect">
            <a:avLst/>
          </a:prstGeom>
        </p:spPr>
      </p:pic>
      <p:sp>
        <p:nvSpPr>
          <p:cNvPr id="19" name="TextBox 9">
            <a:extLst>
              <a:ext uri="{FF2B5EF4-FFF2-40B4-BE49-F238E27FC236}">
                <a16:creationId xmlns:a16="http://schemas.microsoft.com/office/drawing/2014/main" id="{F004A20C-A426-4A58-8513-127B85B14E71}"/>
              </a:ext>
            </a:extLst>
          </p:cNvPr>
          <p:cNvSpPr txBox="1"/>
          <p:nvPr/>
        </p:nvSpPr>
        <p:spPr>
          <a:xfrm>
            <a:off x="1168400" y="863600"/>
            <a:ext cx="159512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400" b="0" i="0" u="none" strike="noStrike" spc="100" dirty="0">
                <a:solidFill>
                  <a:srgbClr val="000000"/>
                </a:solidFill>
                <a:latin typeface="Pretendard Light"/>
              </a:rPr>
              <a:t>Park </a:t>
            </a:r>
            <a:r>
              <a:rPr lang="en-US" altLang="ko-KR" sz="1400" b="0" i="0" u="none" strike="noStrike" spc="100" dirty="0" err="1">
                <a:solidFill>
                  <a:srgbClr val="000000"/>
                </a:solidFill>
                <a:latin typeface="Pretendard Light"/>
              </a:rPr>
              <a:t>Kyubin</a:t>
            </a:r>
            <a:r>
              <a:rPr lang="en-US" altLang="ko-KR" sz="1400" b="0" i="0" u="none" strike="noStrike" spc="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1400" b="0" i="0" u="none" strike="noStrike" spc="100" dirty="0">
                <a:solidFill>
                  <a:srgbClr val="000000"/>
                </a:solidFill>
                <a:latin typeface="Pretendard Light"/>
              </a:rPr>
              <a:t>PORTFOLIO</a:t>
            </a: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0460FF63-3FA4-4D0C-ACF8-BF1488B8C2AE}"/>
              </a:ext>
            </a:extLst>
          </p:cNvPr>
          <p:cNvSpPr txBox="1"/>
          <p:nvPr/>
        </p:nvSpPr>
        <p:spPr>
          <a:xfrm>
            <a:off x="5829300" y="8986222"/>
            <a:ext cx="6629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800" b="0" i="0" strike="noStrike" dirty="0">
                <a:solidFill>
                  <a:srgbClr val="000000"/>
                </a:solidFill>
                <a:latin typeface="Pretendard SemiBold"/>
              </a:rPr>
              <a:t>Website</a:t>
            </a:r>
          </a:p>
        </p:txBody>
      </p:sp>
      <p:sp>
        <p:nvSpPr>
          <p:cNvPr id="25" name="TextBox 13">
            <a:hlinkClick r:id="rId7"/>
            <a:extLst>
              <a:ext uri="{FF2B5EF4-FFF2-40B4-BE49-F238E27FC236}">
                <a16:creationId xmlns:a16="http://schemas.microsoft.com/office/drawing/2014/main" id="{A55EF1D6-4D61-4191-BBFD-B2E24227FCC3}"/>
              </a:ext>
            </a:extLst>
          </p:cNvPr>
          <p:cNvSpPr txBox="1"/>
          <p:nvPr/>
        </p:nvSpPr>
        <p:spPr>
          <a:xfrm>
            <a:off x="5835650" y="9354522"/>
            <a:ext cx="66167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1400" b="0" i="0" strike="noStrike" dirty="0">
                <a:solidFill>
                  <a:srgbClr val="000000"/>
                </a:solidFill>
                <a:latin typeface="Pretendard Light"/>
              </a:rPr>
              <a:t>바로가기</a:t>
            </a:r>
            <a:endParaRPr lang="en-US" sz="1400" b="0" i="0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85A59843-B520-48FA-AD37-0C2FDBA8158A}"/>
              </a:ext>
            </a:extLst>
          </p:cNvPr>
          <p:cNvSpPr txBox="1"/>
          <p:nvPr/>
        </p:nvSpPr>
        <p:spPr>
          <a:xfrm>
            <a:off x="9144000" y="3512048"/>
            <a:ext cx="7949210" cy="19358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이 프로젝트는 </a:t>
            </a:r>
            <a:r>
              <a:rPr lang="ko-KR" altLang="en-US" b="1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전통주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브랜드 백세주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百歲酒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공식 웹페이지를 참고하여 전체적인 디자인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레이아웃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인터랙션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콘텐츠 구조를 동일 또는 유사한 형태로 구현하는 클론 코딩 프로젝트입니다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브랜드의 전통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·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고급스러운 분위기를 웹에서 표현하기 위해 분석부터 퍼블리싱까지 하여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실무 수준의 웹 구축 역량을 강화하는 것을 목표로 진행되었습니다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  <a:p>
            <a:pPr lvl="0">
              <a:lnSpc>
                <a:spcPct val="116199"/>
              </a:lnSpc>
            </a:pPr>
            <a:r>
              <a:rPr 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Index 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페이지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main 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페이지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story 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페이지로 구성되어 있으며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Index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는 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intro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담당하고 있습니다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또한 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Index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페이지와 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main </a:t>
            </a: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페이지는 반응형으로 제작되었습니다</a:t>
            </a:r>
            <a:r>
              <a:rPr lang="en-US" altLang="ko-KR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9150B39E-C8AD-4AC9-9BFE-39777EE59044}"/>
              </a:ext>
            </a:extLst>
          </p:cNvPr>
          <p:cNvSpPr txBox="1"/>
          <p:nvPr/>
        </p:nvSpPr>
        <p:spPr>
          <a:xfrm>
            <a:off x="9141460" y="5536850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Color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739DA6AC-3558-433D-85F7-54EB05CDA4D4}"/>
              </a:ext>
            </a:extLst>
          </p:cNvPr>
          <p:cNvSpPr txBox="1"/>
          <p:nvPr/>
        </p:nvSpPr>
        <p:spPr>
          <a:xfrm>
            <a:off x="9141460" y="6510876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Font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7A51458-7982-401E-98C9-251D04D30AEE}"/>
              </a:ext>
            </a:extLst>
          </p:cNvPr>
          <p:cNvSpPr/>
          <p:nvPr/>
        </p:nvSpPr>
        <p:spPr>
          <a:xfrm>
            <a:off x="9141460" y="5969165"/>
            <a:ext cx="317335" cy="317335"/>
          </a:xfrm>
          <a:prstGeom prst="ellipse">
            <a:avLst/>
          </a:prstGeom>
          <a:solidFill>
            <a:srgbClr val="FFFB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D2ADECA-24BF-4D5C-BBEE-E2410C28F19D}"/>
              </a:ext>
            </a:extLst>
          </p:cNvPr>
          <p:cNvSpPr/>
          <p:nvPr/>
        </p:nvSpPr>
        <p:spPr>
          <a:xfrm>
            <a:off x="9873528" y="5969165"/>
            <a:ext cx="317335" cy="317335"/>
          </a:xfrm>
          <a:prstGeom prst="ellipse">
            <a:avLst/>
          </a:prstGeom>
          <a:solidFill>
            <a:srgbClr val="FEFE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hlinkClick r:id="rId8"/>
            <a:extLst>
              <a:ext uri="{FF2B5EF4-FFF2-40B4-BE49-F238E27FC236}">
                <a16:creationId xmlns:a16="http://schemas.microsoft.com/office/drawing/2014/main" id="{6DAB40AB-5F9E-44FC-8DEB-EB4F2F77C14C}"/>
              </a:ext>
            </a:extLst>
          </p:cNvPr>
          <p:cNvSpPr/>
          <p:nvPr/>
        </p:nvSpPr>
        <p:spPr>
          <a:xfrm>
            <a:off x="7829550" y="8948608"/>
            <a:ext cx="2628900" cy="690692"/>
          </a:xfrm>
          <a:prstGeom prst="round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1181D5A-C7CB-4227-B8DF-2336652DAC7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704" y="3423935"/>
            <a:ext cx="6480636" cy="422551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0F89E2B-9FF9-40D7-ADCE-C3B526904B5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557"/>
          <a:stretch/>
        </p:blipFill>
        <p:spPr>
          <a:xfrm>
            <a:off x="9141460" y="7689987"/>
            <a:ext cx="1316990" cy="346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01DA44D-447B-44A5-A110-207C3147CC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1460" y="6969054"/>
            <a:ext cx="1794388" cy="256341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EFDE880-5ACF-4BCA-93C5-0CFD22D73295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2132" r="-517"/>
          <a:stretch/>
        </p:blipFill>
        <p:spPr>
          <a:xfrm>
            <a:off x="9141460" y="7324272"/>
            <a:ext cx="2203676" cy="289013"/>
          </a:xfrm>
          <a:prstGeom prst="rect">
            <a:avLst/>
          </a:prstGeom>
        </p:spPr>
      </p:pic>
      <p:sp>
        <p:nvSpPr>
          <p:cNvPr id="41" name="TextBox 20">
            <a:extLst>
              <a:ext uri="{FF2B5EF4-FFF2-40B4-BE49-F238E27FC236}">
                <a16:creationId xmlns:a16="http://schemas.microsoft.com/office/drawing/2014/main" id="{2BE40335-FA43-4BD0-B13C-539777562BD7}"/>
              </a:ext>
            </a:extLst>
          </p:cNvPr>
          <p:cNvSpPr txBox="1"/>
          <p:nvPr/>
        </p:nvSpPr>
        <p:spPr>
          <a:xfrm>
            <a:off x="12178310" y="5981782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Light"/>
              </a:rPr>
              <a:t>반응형</a:t>
            </a: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Light"/>
              </a:rPr>
              <a:t>	 </a:t>
            </a: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Light"/>
              </a:rPr>
              <a:t>퍼블리싱</a:t>
            </a:r>
            <a:endParaRPr lang="en-US" altLang="ko-KR" sz="1700" b="0" i="0" u="none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BA503D35-D1FB-499C-BFDE-C4FC3B8B432F}"/>
              </a:ext>
            </a:extLst>
          </p:cNvPr>
          <p:cNvSpPr txBox="1"/>
          <p:nvPr/>
        </p:nvSpPr>
        <p:spPr>
          <a:xfrm>
            <a:off x="12178310" y="6961726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Light"/>
              </a:rPr>
              <a:t>Html5	  css3	    </a:t>
            </a:r>
            <a:r>
              <a:rPr lang="en-US" altLang="ko-KR" sz="1700" b="0" i="0" u="none" strike="noStrike" dirty="0" err="1">
                <a:solidFill>
                  <a:srgbClr val="000000"/>
                </a:solidFill>
                <a:latin typeface="Pretendard Light"/>
              </a:rPr>
              <a:t>js</a:t>
            </a:r>
            <a:r>
              <a:rPr lang="en-US" altLang="ko-KR" sz="1700" dirty="0">
                <a:solidFill>
                  <a:srgbClr val="000000"/>
                </a:solidFill>
                <a:latin typeface="Pretendard Light"/>
              </a:rPr>
              <a:t>	</a:t>
            </a:r>
            <a:r>
              <a:rPr lang="en-US" altLang="ko-KR" sz="1700" b="0" i="0" u="none" strike="noStrike" dirty="0" err="1">
                <a:solidFill>
                  <a:srgbClr val="000000"/>
                </a:solidFill>
                <a:latin typeface="Pretendard Light"/>
              </a:rPr>
              <a:t>jquery</a:t>
            </a:r>
            <a:endParaRPr lang="en-US" altLang="ko-KR" sz="1700" b="0" i="0" u="none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BC082F59-2B03-4249-825E-39477A7CA6A5}"/>
              </a:ext>
            </a:extLst>
          </p:cNvPr>
          <p:cNvSpPr txBox="1"/>
          <p:nvPr/>
        </p:nvSpPr>
        <p:spPr>
          <a:xfrm>
            <a:off x="12178310" y="5536850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작업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8C80FA84-3874-4155-8DE6-0E217ED62762}"/>
              </a:ext>
            </a:extLst>
          </p:cNvPr>
          <p:cNvSpPr txBox="1"/>
          <p:nvPr/>
        </p:nvSpPr>
        <p:spPr>
          <a:xfrm>
            <a:off x="12178310" y="6510876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Tools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D1A6FA2F-9301-46D6-9E5D-3BFF655DF126}"/>
              </a:ext>
            </a:extLst>
          </p:cNvPr>
          <p:cNvSpPr txBox="1"/>
          <p:nvPr/>
        </p:nvSpPr>
        <p:spPr>
          <a:xfrm>
            <a:off x="15373350" y="5536850"/>
            <a:ext cx="78105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기여도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F50EC6B9-3F2E-4570-B263-A816D68AD366}"/>
              </a:ext>
            </a:extLst>
          </p:cNvPr>
          <p:cNvSpPr txBox="1"/>
          <p:nvPr/>
        </p:nvSpPr>
        <p:spPr>
          <a:xfrm>
            <a:off x="15487650" y="5981782"/>
            <a:ext cx="55245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Light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866825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3800" b="0" i="0" u="none" strike="noStrik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CAFEBENE</a:t>
            </a:r>
            <a:endParaRPr lang="ko-KR" sz="3800" b="0" i="0" u="none" strike="noStrike" dirty="0">
              <a:solidFill>
                <a:srgbClr val="00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dirty="0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sz="1500" dirty="0">
                <a:solidFill>
                  <a:srgbClr val="000000"/>
                </a:solidFill>
                <a:latin typeface="Pretendard Bold"/>
              </a:rPr>
              <a:t>6</a:t>
            </a:r>
            <a:endParaRPr lang="en-US" sz="1500" b="0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2501900"/>
            <a:ext cx="159258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6248043" y="5490385"/>
            <a:ext cx="4320000" cy="15429"/>
          </a:xfrm>
          <a:prstGeom prst="rect">
            <a:avLst/>
          </a:prstGeom>
        </p:spPr>
      </p:pic>
      <p:sp>
        <p:nvSpPr>
          <p:cNvPr id="19" name="TextBox 9">
            <a:extLst>
              <a:ext uri="{FF2B5EF4-FFF2-40B4-BE49-F238E27FC236}">
                <a16:creationId xmlns:a16="http://schemas.microsoft.com/office/drawing/2014/main" id="{F004A20C-A426-4A58-8513-127B85B14E71}"/>
              </a:ext>
            </a:extLst>
          </p:cNvPr>
          <p:cNvSpPr txBox="1"/>
          <p:nvPr/>
        </p:nvSpPr>
        <p:spPr>
          <a:xfrm>
            <a:off x="1168400" y="863600"/>
            <a:ext cx="159512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400" b="0" i="0" u="none" strike="noStrike" spc="100" dirty="0">
                <a:solidFill>
                  <a:srgbClr val="000000"/>
                </a:solidFill>
                <a:latin typeface="Pretendard Light"/>
              </a:rPr>
              <a:t>Park </a:t>
            </a:r>
            <a:r>
              <a:rPr lang="en-US" altLang="ko-KR" sz="1400" b="0" i="0" u="none" strike="noStrike" spc="100" dirty="0" err="1">
                <a:solidFill>
                  <a:srgbClr val="000000"/>
                </a:solidFill>
                <a:latin typeface="Pretendard Light"/>
              </a:rPr>
              <a:t>Kyubin</a:t>
            </a:r>
            <a:r>
              <a:rPr lang="en-US" altLang="ko-KR" sz="1400" b="0" i="0" u="none" strike="noStrike" spc="100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1400" b="0" i="0" u="none" strike="noStrike" spc="100" dirty="0">
                <a:solidFill>
                  <a:srgbClr val="000000"/>
                </a:solidFill>
                <a:latin typeface="Pretendard Light"/>
              </a:rPr>
              <a:t>PORTFOLIO</a:t>
            </a: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0460FF63-3FA4-4D0C-ACF8-BF1488B8C2AE}"/>
              </a:ext>
            </a:extLst>
          </p:cNvPr>
          <p:cNvSpPr txBox="1"/>
          <p:nvPr/>
        </p:nvSpPr>
        <p:spPr>
          <a:xfrm>
            <a:off x="5829300" y="8986222"/>
            <a:ext cx="6629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800" b="0" i="0" strike="noStrike" dirty="0">
                <a:solidFill>
                  <a:srgbClr val="000000"/>
                </a:solidFill>
                <a:latin typeface="Pretendard SemiBold"/>
              </a:rPr>
              <a:t>Website</a:t>
            </a:r>
          </a:p>
        </p:txBody>
      </p:sp>
      <p:sp>
        <p:nvSpPr>
          <p:cNvPr id="25" name="TextBox 13">
            <a:hlinkClick r:id="rId7"/>
            <a:extLst>
              <a:ext uri="{FF2B5EF4-FFF2-40B4-BE49-F238E27FC236}">
                <a16:creationId xmlns:a16="http://schemas.microsoft.com/office/drawing/2014/main" id="{A55EF1D6-4D61-4191-BBFD-B2E24227FCC3}"/>
              </a:ext>
            </a:extLst>
          </p:cNvPr>
          <p:cNvSpPr txBox="1"/>
          <p:nvPr/>
        </p:nvSpPr>
        <p:spPr>
          <a:xfrm>
            <a:off x="5835650" y="9354522"/>
            <a:ext cx="66167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1400" b="0" i="0" strike="noStrike" dirty="0">
                <a:solidFill>
                  <a:srgbClr val="000000"/>
                </a:solidFill>
                <a:latin typeface="Pretendard Light"/>
              </a:rPr>
              <a:t>바로가기</a:t>
            </a:r>
            <a:endParaRPr lang="en-US" sz="1400" b="0" i="0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85A59843-B520-48FA-AD37-0C2FDBA8158A}"/>
              </a:ext>
            </a:extLst>
          </p:cNvPr>
          <p:cNvSpPr txBox="1"/>
          <p:nvPr/>
        </p:nvSpPr>
        <p:spPr>
          <a:xfrm>
            <a:off x="9144000" y="3511746"/>
            <a:ext cx="7962900" cy="151715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프로젝트는 카페 브랜드 </a:t>
            </a:r>
            <a:r>
              <a:rPr lang="ko-KR" altLang="en-US" b="1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카페베네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en-US" altLang="ko-KR" b="1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Cafebene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공식 웹사이트를 참고하여 유사하게 재현하는 클론 코딩 프로젝트입니다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카페 브랜드 특유의 따뜻하고 감성적인 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UI 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스타일을 웹으로 구현하며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실제 서비스에 가까운 웹 퍼블리싱 구조를 직접 구현하는 것을 목표로 진행되었습니다</a:t>
            </a: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9150B39E-C8AD-4AC9-9BFE-39777EE59044}"/>
              </a:ext>
            </a:extLst>
          </p:cNvPr>
          <p:cNvSpPr txBox="1"/>
          <p:nvPr/>
        </p:nvSpPr>
        <p:spPr>
          <a:xfrm>
            <a:off x="9144000" y="5536850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Color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739DA6AC-3558-433D-85F7-54EB05CDA4D4}"/>
              </a:ext>
            </a:extLst>
          </p:cNvPr>
          <p:cNvSpPr txBox="1"/>
          <p:nvPr/>
        </p:nvSpPr>
        <p:spPr>
          <a:xfrm>
            <a:off x="9144000" y="6510876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Font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7A51458-7982-401E-98C9-251D04D30AEE}"/>
              </a:ext>
            </a:extLst>
          </p:cNvPr>
          <p:cNvSpPr/>
          <p:nvPr/>
        </p:nvSpPr>
        <p:spPr>
          <a:xfrm>
            <a:off x="9144000" y="5969165"/>
            <a:ext cx="317335" cy="317335"/>
          </a:xfrm>
          <a:prstGeom prst="ellipse">
            <a:avLst/>
          </a:prstGeom>
          <a:solidFill>
            <a:srgbClr val="00A5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D2ADECA-24BF-4D5C-BBEE-E2410C28F19D}"/>
              </a:ext>
            </a:extLst>
          </p:cNvPr>
          <p:cNvSpPr/>
          <p:nvPr/>
        </p:nvSpPr>
        <p:spPr>
          <a:xfrm>
            <a:off x="9873528" y="5969165"/>
            <a:ext cx="317335" cy="317335"/>
          </a:xfrm>
          <a:prstGeom prst="ellipse">
            <a:avLst/>
          </a:prstGeom>
          <a:solidFill>
            <a:srgbClr val="3A466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hlinkClick r:id="rId8"/>
            <a:extLst>
              <a:ext uri="{FF2B5EF4-FFF2-40B4-BE49-F238E27FC236}">
                <a16:creationId xmlns:a16="http://schemas.microsoft.com/office/drawing/2014/main" id="{6DAB40AB-5F9E-44FC-8DEB-EB4F2F77C14C}"/>
              </a:ext>
            </a:extLst>
          </p:cNvPr>
          <p:cNvSpPr/>
          <p:nvPr/>
        </p:nvSpPr>
        <p:spPr>
          <a:xfrm>
            <a:off x="7829550" y="8948608"/>
            <a:ext cx="2628900" cy="690692"/>
          </a:xfrm>
          <a:prstGeom prst="round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813EB68-CD02-400C-97C4-1DF4972C2AD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963" y="3472124"/>
            <a:ext cx="4882566" cy="410285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1203DA3-D3E7-4A05-BABF-F49382ACBC1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651"/>
          <a:stretch/>
        </p:blipFill>
        <p:spPr>
          <a:xfrm>
            <a:off x="9144000" y="6941822"/>
            <a:ext cx="1300307" cy="290632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9BC1971C-27F4-48D9-8B66-75DE156A11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7349824"/>
            <a:ext cx="992639" cy="283611"/>
          </a:xfrm>
          <a:prstGeom prst="rect">
            <a:avLst/>
          </a:prstGeom>
        </p:spPr>
      </p:pic>
      <p:sp>
        <p:nvSpPr>
          <p:cNvPr id="44" name="TextBox 20">
            <a:extLst>
              <a:ext uri="{FF2B5EF4-FFF2-40B4-BE49-F238E27FC236}">
                <a16:creationId xmlns:a16="http://schemas.microsoft.com/office/drawing/2014/main" id="{9B95E6F4-353C-423B-BD8D-C4BC9E31BA33}"/>
              </a:ext>
            </a:extLst>
          </p:cNvPr>
          <p:cNvSpPr txBox="1"/>
          <p:nvPr/>
        </p:nvSpPr>
        <p:spPr>
          <a:xfrm>
            <a:off x="12178310" y="5981782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sz="1700" b="0" i="0" u="none" strike="noStrike" dirty="0">
                <a:solidFill>
                  <a:srgbClr val="000000"/>
                </a:solidFill>
                <a:latin typeface="Pretendard Light"/>
              </a:rPr>
              <a:t>퍼블리싱</a:t>
            </a:r>
            <a:endParaRPr lang="en-US" altLang="ko-KR" sz="1700" b="0" i="0" u="none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45" name="TextBox 21">
            <a:extLst>
              <a:ext uri="{FF2B5EF4-FFF2-40B4-BE49-F238E27FC236}">
                <a16:creationId xmlns:a16="http://schemas.microsoft.com/office/drawing/2014/main" id="{D86D69C7-152A-4F26-B41A-66C7D01C7F24}"/>
              </a:ext>
            </a:extLst>
          </p:cNvPr>
          <p:cNvSpPr txBox="1"/>
          <p:nvPr/>
        </p:nvSpPr>
        <p:spPr>
          <a:xfrm>
            <a:off x="12178310" y="6961726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Light"/>
              </a:rPr>
              <a:t>Html5	  css3	    </a:t>
            </a:r>
            <a:r>
              <a:rPr lang="en-US" altLang="ko-KR" sz="1700" b="0" i="0" u="none" strike="noStrike" dirty="0" err="1">
                <a:solidFill>
                  <a:srgbClr val="000000"/>
                </a:solidFill>
                <a:latin typeface="Pretendard Light"/>
              </a:rPr>
              <a:t>js</a:t>
            </a:r>
            <a:r>
              <a:rPr lang="en-US" altLang="ko-KR" sz="1700" dirty="0">
                <a:solidFill>
                  <a:srgbClr val="000000"/>
                </a:solidFill>
                <a:latin typeface="Pretendard Light"/>
              </a:rPr>
              <a:t>	</a:t>
            </a:r>
            <a:r>
              <a:rPr lang="en-US" altLang="ko-KR" sz="1700" b="0" i="0" u="none" strike="noStrike" dirty="0" err="1">
                <a:solidFill>
                  <a:srgbClr val="000000"/>
                </a:solidFill>
                <a:latin typeface="Pretendard Light"/>
              </a:rPr>
              <a:t>jquery</a:t>
            </a:r>
            <a:endParaRPr lang="en-US" altLang="ko-KR" sz="1700" b="0" i="0" u="none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AA9872B3-0A25-4B96-B62D-19A8CA887FD8}"/>
              </a:ext>
            </a:extLst>
          </p:cNvPr>
          <p:cNvSpPr txBox="1"/>
          <p:nvPr/>
        </p:nvSpPr>
        <p:spPr>
          <a:xfrm>
            <a:off x="12178310" y="5536850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작업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7" name="TextBox 21">
            <a:extLst>
              <a:ext uri="{FF2B5EF4-FFF2-40B4-BE49-F238E27FC236}">
                <a16:creationId xmlns:a16="http://schemas.microsoft.com/office/drawing/2014/main" id="{9B173202-6CC7-4C19-992A-B0EE5E989A93}"/>
              </a:ext>
            </a:extLst>
          </p:cNvPr>
          <p:cNvSpPr txBox="1"/>
          <p:nvPr/>
        </p:nvSpPr>
        <p:spPr>
          <a:xfrm>
            <a:off x="12178310" y="6510876"/>
            <a:ext cx="4914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b="1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Tools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8" name="TextBox 20">
            <a:extLst>
              <a:ext uri="{FF2B5EF4-FFF2-40B4-BE49-F238E27FC236}">
                <a16:creationId xmlns:a16="http://schemas.microsoft.com/office/drawing/2014/main" id="{B164712B-580B-4D8B-8EF4-DB6CA262081C}"/>
              </a:ext>
            </a:extLst>
          </p:cNvPr>
          <p:cNvSpPr txBox="1"/>
          <p:nvPr/>
        </p:nvSpPr>
        <p:spPr>
          <a:xfrm>
            <a:off x="15373350" y="5536850"/>
            <a:ext cx="78105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b="1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기여도</a:t>
            </a:r>
            <a:endParaRPr lang="en-US" b="1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9" name="TextBox 20">
            <a:extLst>
              <a:ext uri="{FF2B5EF4-FFF2-40B4-BE49-F238E27FC236}">
                <a16:creationId xmlns:a16="http://schemas.microsoft.com/office/drawing/2014/main" id="{DB36F8AD-9E24-4CFF-B512-F6F7DB65F5B8}"/>
              </a:ext>
            </a:extLst>
          </p:cNvPr>
          <p:cNvSpPr txBox="1"/>
          <p:nvPr/>
        </p:nvSpPr>
        <p:spPr>
          <a:xfrm>
            <a:off x="15487650" y="5981782"/>
            <a:ext cx="55245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700" b="0" i="0" u="none" strike="noStrike" dirty="0">
                <a:solidFill>
                  <a:srgbClr val="000000"/>
                </a:solidFill>
                <a:latin typeface="Pretendard Light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30554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87400"/>
            <a:ext cx="16916400" cy="8699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7734300"/>
            <a:ext cx="15925800" cy="12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197600" y="3352800"/>
            <a:ext cx="59055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3000" b="0" i="0" u="none" strike="noStrike" dirty="0">
                <a:solidFill>
                  <a:srgbClr val="000000"/>
                </a:solidFill>
                <a:ea typeface="Pretendard Light"/>
              </a:rPr>
              <a:t>감사합니다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0" y="5334000"/>
            <a:ext cx="4635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2400" b="0" i="0" u="none" strike="noStrike" spc="1700" dirty="0">
                <a:solidFill>
                  <a:srgbClr val="000000"/>
                </a:solidFill>
                <a:latin typeface="Pretendard SemiBold"/>
              </a:rPr>
              <a:t>Park</a:t>
            </a:r>
            <a:r>
              <a:rPr lang="en-US" sz="2400" b="0" i="0" u="none" strike="noStrike" spc="1700" dirty="0">
                <a:solidFill>
                  <a:srgbClr val="000000"/>
                </a:solidFill>
                <a:latin typeface="Pretendard SemiBold"/>
              </a:rPr>
              <a:t>-</a:t>
            </a:r>
            <a:r>
              <a:rPr lang="en-US" altLang="ko-KR" sz="2400" b="0" i="0" u="none" strike="noStrike" spc="1700" dirty="0" err="1">
                <a:solidFill>
                  <a:srgbClr val="000000"/>
                </a:solidFill>
                <a:latin typeface="Pretendard SemiBold"/>
              </a:rPr>
              <a:t>Kyubin</a:t>
            </a:r>
            <a:endParaRPr lang="en-US" sz="2400" b="0" i="0" u="none" strike="noStrike" spc="1700" dirty="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651500" y="3835400"/>
            <a:ext cx="69850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9000" b="0" i="0" u="none" strike="noStrike" spc="-400" dirty="0">
                <a:solidFill>
                  <a:srgbClr val="000000"/>
                </a:solidFill>
                <a:latin typeface="Pretendard Bold"/>
              </a:rPr>
              <a:t>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40300" y="3505200"/>
            <a:ext cx="1790700" cy="246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lang="en-US" sz="13300" b="0" i="0" u="none" strike="noStrike" spc="-700" dirty="0">
              <a:solidFill>
                <a:srgbClr val="000000"/>
              </a:solidFill>
              <a:latin typeface="Mr Dafoe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829300" y="8267700"/>
            <a:ext cx="6629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SemiBold"/>
              </a:rPr>
              <a:t>Landing Page</a:t>
            </a:r>
            <a:endParaRPr lang="en-US" sz="2400" b="0" i="0" u="none" strike="noStrike" dirty="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835650" y="8661400"/>
            <a:ext cx="66167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b="0" i="0" u="none" strike="noStrike" dirty="0">
                <a:solidFill>
                  <a:srgbClr val="000000"/>
                </a:solidFill>
                <a:latin typeface="Pretendard Light"/>
              </a:rPr>
              <a:t>바로가기</a:t>
            </a:r>
            <a:endParaRPr lang="en-US" b="0" i="0" u="none" strike="noStrike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362700" y="1384300"/>
            <a:ext cx="55626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300" b="0" i="0" u="none" strike="noStrike" spc="100" dirty="0">
                <a:solidFill>
                  <a:srgbClr val="000000"/>
                </a:solidFill>
                <a:latin typeface="Pretendard Light"/>
              </a:rPr>
              <a:t>PORTFOLIO</a:t>
            </a:r>
          </a:p>
        </p:txBody>
      </p:sp>
      <p:sp>
        <p:nvSpPr>
          <p:cNvPr id="16" name="사각형: 둥근 모서리 15">
            <a:hlinkClick r:id="rId5"/>
            <a:extLst>
              <a:ext uri="{FF2B5EF4-FFF2-40B4-BE49-F238E27FC236}">
                <a16:creationId xmlns:a16="http://schemas.microsoft.com/office/drawing/2014/main" id="{69F2BAA6-E90A-4E0B-815B-C4CBDE1CF322}"/>
              </a:ext>
            </a:extLst>
          </p:cNvPr>
          <p:cNvSpPr/>
          <p:nvPr/>
        </p:nvSpPr>
        <p:spPr>
          <a:xfrm>
            <a:off x="7686675" y="8152177"/>
            <a:ext cx="2914650" cy="929546"/>
          </a:xfrm>
          <a:prstGeom prst="round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458</Words>
  <Application>Microsoft Office PowerPoint</Application>
  <PresentationFormat>사용자 지정</PresentationFormat>
  <Paragraphs>103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Pretendard Light</vt:lpstr>
      <vt:lpstr>Pretendard Medium</vt:lpstr>
      <vt:lpstr>Arial</vt:lpstr>
      <vt:lpstr>Pretendard Bold</vt:lpstr>
      <vt:lpstr>Pretendard SemiBold</vt:lpstr>
      <vt:lpstr>Pretendard Regular</vt:lpstr>
      <vt:lpstr>Calibri</vt:lpstr>
      <vt:lpstr>Mr Dafoe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user</cp:lastModifiedBy>
  <cp:revision>75</cp:revision>
  <dcterms:created xsi:type="dcterms:W3CDTF">2006-08-16T00:00:00Z</dcterms:created>
  <dcterms:modified xsi:type="dcterms:W3CDTF">2025-12-01T09:00:25Z</dcterms:modified>
</cp:coreProperties>
</file>